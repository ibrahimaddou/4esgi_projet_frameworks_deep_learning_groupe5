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  <p:embeddedFont>
      <p:font typeface="Open Sans Bold" panose="020B0806030504020204" pitchFamily="34" charset="0"/>
      <p:regular r:id="rId24"/>
      <p:bold r:id="rId25"/>
    </p:embeddedFont>
    <p:embeddedFont>
      <p:font typeface="Unbounded Bold" panose="020B0604020202020204" charset="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7F0D4B-7A1A-44D3-81A7-7767462B8D4A}" v="29" dt="2026-07-30T07:00:07.929"/>
    <p1510:client id="{CE82B809-8AC0-7A8E-3A39-E0BE3C20CA15}" v="46" dt="2026-07-29T21:55:35.098"/>
    <p1510:client id="{DDF58A3F-7732-9E67-E6D9-53704DA6B86A}" v="6" dt="2026-07-29T16:27:26.818"/>
    <p1510:client id="{EC835E7B-EFB4-DAD8-42AD-68894EEE7253}" v="17" dt="2026-07-29T16:25:22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karia BARKA" userId="S::z.barka@myskolae.fr::d6b7eca2-3c1f-490c-8b84-05767183c497" providerId="AD" clId="Web-{CE82B809-8AC0-7A8E-3A39-E0BE3C20CA15}"/>
    <pc:docChg chg="modSld">
      <pc:chgData name="Zakaria BARKA" userId="S::z.barka@myskolae.fr::d6b7eca2-3c1f-490c-8b84-05767183c497" providerId="AD" clId="Web-{CE82B809-8AC0-7A8E-3A39-E0BE3C20CA15}" dt="2026-07-29T21:55:35.098" v="44" actId="14100"/>
      <pc:docMkLst>
        <pc:docMk/>
      </pc:docMkLst>
      <pc:sldChg chg="modSp">
        <pc:chgData name="Zakaria BARKA" userId="S::z.barka@myskolae.fr::d6b7eca2-3c1f-490c-8b84-05767183c497" providerId="AD" clId="Web-{CE82B809-8AC0-7A8E-3A39-E0BE3C20CA15}" dt="2026-07-29T21:37:49.197" v="8" actId="20577"/>
        <pc:sldMkLst>
          <pc:docMk/>
          <pc:sldMk cId="0" sldId="257"/>
        </pc:sldMkLst>
        <pc:spChg chg="mod">
          <ac:chgData name="Zakaria BARKA" userId="S::z.barka@myskolae.fr::d6b7eca2-3c1f-490c-8b84-05767183c497" providerId="AD" clId="Web-{CE82B809-8AC0-7A8E-3A39-E0BE3C20CA15}" dt="2026-07-29T21:36:40.273" v="3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Zakaria BARKA" userId="S::z.barka@myskolae.fr::d6b7eca2-3c1f-490c-8b84-05767183c497" providerId="AD" clId="Web-{CE82B809-8AC0-7A8E-3A39-E0BE3C20CA15}" dt="2026-07-29T21:37:49.197" v="8" actId="20577"/>
          <ac:spMkLst>
            <pc:docMk/>
            <pc:sldMk cId="0" sldId="257"/>
            <ac:spMk id="10" creationId="{00000000-0000-0000-0000-000000000000}"/>
          </ac:spMkLst>
        </pc:spChg>
      </pc:sldChg>
      <pc:sldChg chg="modSp">
        <pc:chgData name="Zakaria BARKA" userId="S::z.barka@myskolae.fr::d6b7eca2-3c1f-490c-8b84-05767183c497" providerId="AD" clId="Web-{CE82B809-8AC0-7A8E-3A39-E0BE3C20CA15}" dt="2026-07-29T20:17:18.997" v="1" actId="14100"/>
        <pc:sldMkLst>
          <pc:docMk/>
          <pc:sldMk cId="0" sldId="258"/>
        </pc:sldMkLst>
        <pc:spChg chg="mod">
          <ac:chgData name="Zakaria BARKA" userId="S::z.barka@myskolae.fr::d6b7eca2-3c1f-490c-8b84-05767183c497" providerId="AD" clId="Web-{CE82B809-8AC0-7A8E-3A39-E0BE3C20CA15}" dt="2026-07-29T20:17:18.997" v="1" actId="14100"/>
          <ac:spMkLst>
            <pc:docMk/>
            <pc:sldMk cId="0" sldId="258"/>
            <ac:spMk id="10" creationId="{00000000-0000-0000-0000-000000000000}"/>
          </ac:spMkLst>
        </pc:spChg>
      </pc:sldChg>
      <pc:sldChg chg="modSp">
        <pc:chgData name="Zakaria BARKA" userId="S::z.barka@myskolae.fr::d6b7eca2-3c1f-490c-8b84-05767183c497" providerId="AD" clId="Web-{CE82B809-8AC0-7A8E-3A39-E0BE3C20CA15}" dt="2026-07-29T21:55:35.098" v="44" actId="14100"/>
        <pc:sldMkLst>
          <pc:docMk/>
          <pc:sldMk cId="0" sldId="259"/>
        </pc:sldMkLst>
        <pc:spChg chg="mod">
          <ac:chgData name="Zakaria BARKA" userId="S::z.barka@myskolae.fr::d6b7eca2-3c1f-490c-8b84-05767183c497" providerId="AD" clId="Web-{CE82B809-8AC0-7A8E-3A39-E0BE3C20CA15}" dt="2026-07-29T21:55:29.472" v="42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Zakaria BARKA" userId="S::z.barka@myskolae.fr::d6b7eca2-3c1f-490c-8b84-05767183c497" providerId="AD" clId="Web-{CE82B809-8AC0-7A8E-3A39-E0BE3C20CA15}" dt="2026-07-29T21:55:35.098" v="44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Zakaria BARKA" userId="S::z.barka@myskolae.fr::d6b7eca2-3c1f-490c-8b84-05767183c497" providerId="AD" clId="Web-{CE82B809-8AC0-7A8E-3A39-E0BE3C20CA15}" dt="2026-07-29T21:54:25.876" v="30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Zakaria BARKA" userId="S::z.barka@myskolae.fr::d6b7eca2-3c1f-490c-8b84-05767183c497" providerId="AD" clId="Web-{CE82B809-8AC0-7A8E-3A39-E0BE3C20CA15}" dt="2026-07-29T21:54:31.408" v="31" actId="14100"/>
          <ac:spMkLst>
            <pc:docMk/>
            <pc:sldMk cId="0" sldId="259"/>
            <ac:spMk id="8" creationId="{00000000-0000-0000-0000-000000000000}"/>
          </ac:spMkLst>
        </pc:spChg>
        <pc:picChg chg="mod">
          <ac:chgData name="Zakaria BARKA" userId="S::z.barka@myskolae.fr::d6b7eca2-3c1f-490c-8b84-05767183c497" providerId="AD" clId="Web-{CE82B809-8AC0-7A8E-3A39-E0BE3C20CA15}" dt="2026-07-29T21:55:04.956" v="36" actId="1076"/>
          <ac:picMkLst>
            <pc:docMk/>
            <pc:sldMk cId="0" sldId="259"/>
            <ac:picMk id="9" creationId="{00000000-0000-0000-0000-000000000000}"/>
          </ac:picMkLst>
        </pc:picChg>
      </pc:sldChg>
    </pc:docChg>
  </pc:docChgLst>
  <pc:docChgLst>
    <pc:chgData name="Ibrahim ADDOU" userId="3a7080ad-13f3-46f0-8e50-3af007989dbe" providerId="ADAL" clId="{DD65FD23-FD5B-4192-8569-4CCE926E69E8}"/>
    <pc:docChg chg="undo custSel modSld">
      <pc:chgData name="Ibrahim ADDOU" userId="3a7080ad-13f3-46f0-8e50-3af007989dbe" providerId="ADAL" clId="{DD65FD23-FD5B-4192-8569-4CCE926E69E8}" dt="2026-07-30T06:59:34.633" v="15" actId="22"/>
      <pc:docMkLst>
        <pc:docMk/>
      </pc:docMkLst>
      <pc:sldChg chg="addSp delSp modSp mod">
        <pc:chgData name="Ibrahim ADDOU" userId="3a7080ad-13f3-46f0-8e50-3af007989dbe" providerId="ADAL" clId="{DD65FD23-FD5B-4192-8569-4CCE926E69E8}" dt="2026-07-30T06:59:08.074" v="10" actId="2085"/>
        <pc:sldMkLst>
          <pc:docMk/>
          <pc:sldMk cId="0" sldId="256"/>
        </pc:sldMkLst>
        <pc:spChg chg="mod">
          <ac:chgData name="Ibrahim ADDOU" userId="3a7080ad-13f3-46f0-8e50-3af007989dbe" providerId="ADAL" clId="{DD65FD23-FD5B-4192-8569-4CCE926E69E8}" dt="2026-07-30T06:58:47.508" v="5" actId="2085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Ibrahim ADDOU" userId="3a7080ad-13f3-46f0-8e50-3af007989dbe" providerId="ADAL" clId="{DD65FD23-FD5B-4192-8569-4CCE926E69E8}" dt="2026-07-30T06:58:48.160" v="6" actId="11529"/>
          <ac:spMkLst>
            <pc:docMk/>
            <pc:sldMk cId="0" sldId="256"/>
            <ac:spMk id="17" creationId="{F9FDE35F-3435-D493-22C6-63A6621A103C}"/>
          </ac:spMkLst>
        </pc:spChg>
        <pc:spChg chg="add mod">
          <ac:chgData name="Ibrahim ADDOU" userId="3a7080ad-13f3-46f0-8e50-3af007989dbe" providerId="ADAL" clId="{DD65FD23-FD5B-4192-8569-4CCE926E69E8}" dt="2026-07-30T06:59:08.074" v="10" actId="2085"/>
          <ac:spMkLst>
            <pc:docMk/>
            <pc:sldMk cId="0" sldId="256"/>
            <ac:spMk id="18" creationId="{D109403D-6012-C500-43BE-45C17246B4DF}"/>
          </ac:spMkLst>
        </pc:spChg>
      </pc:sldChg>
      <pc:sldChg chg="addSp modSp mod">
        <pc:chgData name="Ibrahim ADDOU" userId="3a7080ad-13f3-46f0-8e50-3af007989dbe" providerId="ADAL" clId="{DD65FD23-FD5B-4192-8569-4CCE926E69E8}" dt="2026-07-30T06:59:21.186" v="11" actId="22"/>
        <pc:sldMkLst>
          <pc:docMk/>
          <pc:sldMk cId="0" sldId="261"/>
        </pc:sldMkLst>
        <pc:spChg chg="mod">
          <ac:chgData name="Ibrahim ADDOU" userId="3a7080ad-13f3-46f0-8e50-3af007989dbe" providerId="ADAL" clId="{DD65FD23-FD5B-4192-8569-4CCE926E69E8}" dt="2026-07-29T20:18:34.172" v="0" actId="14100"/>
          <ac:spMkLst>
            <pc:docMk/>
            <pc:sldMk cId="0" sldId="261"/>
            <ac:spMk id="12" creationId="{00000000-0000-0000-0000-000000000000}"/>
          </ac:spMkLst>
        </pc:spChg>
        <pc:spChg chg="add">
          <ac:chgData name="Ibrahim ADDOU" userId="3a7080ad-13f3-46f0-8e50-3af007989dbe" providerId="ADAL" clId="{DD65FD23-FD5B-4192-8569-4CCE926E69E8}" dt="2026-07-30T06:59:21.186" v="11" actId="22"/>
          <ac:spMkLst>
            <pc:docMk/>
            <pc:sldMk cId="0" sldId="261"/>
            <ac:spMk id="16" creationId="{1DDBD6C9-85D7-86B2-1053-04D0D388F427}"/>
          </ac:spMkLst>
        </pc:spChg>
      </pc:sldChg>
      <pc:sldChg chg="addSp mod">
        <pc:chgData name="Ibrahim ADDOU" userId="3a7080ad-13f3-46f0-8e50-3af007989dbe" providerId="ADAL" clId="{DD65FD23-FD5B-4192-8569-4CCE926E69E8}" dt="2026-07-30T06:59:24.200" v="12" actId="22"/>
        <pc:sldMkLst>
          <pc:docMk/>
          <pc:sldMk cId="0" sldId="262"/>
        </pc:sldMkLst>
        <pc:spChg chg="add">
          <ac:chgData name="Ibrahim ADDOU" userId="3a7080ad-13f3-46f0-8e50-3af007989dbe" providerId="ADAL" clId="{DD65FD23-FD5B-4192-8569-4CCE926E69E8}" dt="2026-07-30T06:59:24.200" v="12" actId="22"/>
          <ac:spMkLst>
            <pc:docMk/>
            <pc:sldMk cId="0" sldId="262"/>
            <ac:spMk id="9" creationId="{DC86021F-4E68-EF7B-8C5D-D2E677D593C2}"/>
          </ac:spMkLst>
        </pc:spChg>
      </pc:sldChg>
      <pc:sldChg chg="addSp mod">
        <pc:chgData name="Ibrahim ADDOU" userId="3a7080ad-13f3-46f0-8e50-3af007989dbe" providerId="ADAL" clId="{DD65FD23-FD5B-4192-8569-4CCE926E69E8}" dt="2026-07-30T06:59:27.078" v="13" actId="22"/>
        <pc:sldMkLst>
          <pc:docMk/>
          <pc:sldMk cId="0" sldId="263"/>
        </pc:sldMkLst>
        <pc:spChg chg="add">
          <ac:chgData name="Ibrahim ADDOU" userId="3a7080ad-13f3-46f0-8e50-3af007989dbe" providerId="ADAL" clId="{DD65FD23-FD5B-4192-8569-4CCE926E69E8}" dt="2026-07-30T06:59:27.078" v="13" actId="22"/>
          <ac:spMkLst>
            <pc:docMk/>
            <pc:sldMk cId="0" sldId="263"/>
            <ac:spMk id="17" creationId="{E45D9B1F-0692-7804-8AFC-303C342B2073}"/>
          </ac:spMkLst>
        </pc:spChg>
      </pc:sldChg>
      <pc:sldChg chg="addSp mod">
        <pc:chgData name="Ibrahim ADDOU" userId="3a7080ad-13f3-46f0-8e50-3af007989dbe" providerId="ADAL" clId="{DD65FD23-FD5B-4192-8569-4CCE926E69E8}" dt="2026-07-30T06:59:31.665" v="14" actId="22"/>
        <pc:sldMkLst>
          <pc:docMk/>
          <pc:sldMk cId="0" sldId="264"/>
        </pc:sldMkLst>
        <pc:spChg chg="add">
          <ac:chgData name="Ibrahim ADDOU" userId="3a7080ad-13f3-46f0-8e50-3af007989dbe" providerId="ADAL" clId="{DD65FD23-FD5B-4192-8569-4CCE926E69E8}" dt="2026-07-30T06:59:31.665" v="14" actId="22"/>
          <ac:spMkLst>
            <pc:docMk/>
            <pc:sldMk cId="0" sldId="264"/>
            <ac:spMk id="12" creationId="{538A896F-1FF0-942A-3C12-9522FB9C577A}"/>
          </ac:spMkLst>
        </pc:spChg>
      </pc:sldChg>
      <pc:sldChg chg="addSp mod">
        <pc:chgData name="Ibrahim ADDOU" userId="3a7080ad-13f3-46f0-8e50-3af007989dbe" providerId="ADAL" clId="{DD65FD23-FD5B-4192-8569-4CCE926E69E8}" dt="2026-07-30T06:59:34.633" v="15" actId="22"/>
        <pc:sldMkLst>
          <pc:docMk/>
          <pc:sldMk cId="0" sldId="265"/>
        </pc:sldMkLst>
        <pc:spChg chg="add">
          <ac:chgData name="Ibrahim ADDOU" userId="3a7080ad-13f3-46f0-8e50-3af007989dbe" providerId="ADAL" clId="{DD65FD23-FD5B-4192-8569-4CCE926E69E8}" dt="2026-07-30T06:59:34.633" v="15" actId="22"/>
          <ac:spMkLst>
            <pc:docMk/>
            <pc:sldMk cId="0" sldId="265"/>
            <ac:spMk id="12" creationId="{2152E1DF-B640-0E53-364A-7E1049467C30}"/>
          </ac:spMkLst>
        </pc:spChg>
      </pc:sldChg>
    </pc:docChg>
  </pc:docChgLst>
  <pc:docChgLst>
    <pc:chgData name="Zakaria BARKA" userId="S::z.barka@myskolae.fr::d6b7eca2-3c1f-490c-8b84-05767183c497" providerId="AD" clId="Web-{DDF58A3F-7732-9E67-E6D9-53704DA6B86A}"/>
    <pc:docChg chg="modSld">
      <pc:chgData name="Zakaria BARKA" userId="S::z.barka@myskolae.fr::d6b7eca2-3c1f-490c-8b84-05767183c497" providerId="AD" clId="Web-{DDF58A3F-7732-9E67-E6D9-53704DA6B86A}" dt="2026-07-29T16:27:26.818" v="5" actId="20577"/>
      <pc:docMkLst>
        <pc:docMk/>
      </pc:docMkLst>
      <pc:sldChg chg="modSp">
        <pc:chgData name="Zakaria BARKA" userId="S::z.barka@myskolae.fr::d6b7eca2-3c1f-490c-8b84-05767183c497" providerId="AD" clId="Web-{DDF58A3F-7732-9E67-E6D9-53704DA6B86A}" dt="2026-07-29T16:27:26.818" v="5" actId="20577"/>
        <pc:sldMkLst>
          <pc:docMk/>
          <pc:sldMk cId="0" sldId="259"/>
        </pc:sldMkLst>
        <pc:spChg chg="mod">
          <ac:chgData name="Zakaria BARKA" userId="S::z.barka@myskolae.fr::d6b7eca2-3c1f-490c-8b84-05767183c497" providerId="AD" clId="Web-{DDF58A3F-7732-9E67-E6D9-53704DA6B86A}" dt="2026-07-29T16:27:06.832" v="3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Zakaria BARKA" userId="S::z.barka@myskolae.fr::d6b7eca2-3c1f-490c-8b84-05767183c497" providerId="AD" clId="Web-{DDF58A3F-7732-9E67-E6D9-53704DA6B86A}" dt="2026-07-29T16:27:26.818" v="5" actId="20577"/>
          <ac:spMkLst>
            <pc:docMk/>
            <pc:sldMk cId="0" sldId="259"/>
            <ac:spMk id="3" creationId="{00000000-0000-0000-0000-000000000000}"/>
          </ac:spMkLst>
        </pc:spChg>
      </pc:sldChg>
    </pc:docChg>
  </pc:docChgLst>
  <pc:docChgLst>
    <pc:chgData name="Zakaria BARKA" userId="S::z.barka@myskolae.fr::d6b7eca2-3c1f-490c-8b84-05767183c497" providerId="AD" clId="Web-{EC835E7B-EFB4-DAD8-42AD-68894EEE7253}"/>
    <pc:docChg chg="modSld">
      <pc:chgData name="Zakaria BARKA" userId="S::z.barka@myskolae.fr::d6b7eca2-3c1f-490c-8b84-05767183c497" providerId="AD" clId="Web-{EC835E7B-EFB4-DAD8-42AD-68894EEE7253}" dt="2026-07-29T16:25:22.731" v="16" actId="14100"/>
      <pc:docMkLst>
        <pc:docMk/>
      </pc:docMkLst>
      <pc:sldChg chg="modSp">
        <pc:chgData name="Zakaria BARKA" userId="S::z.barka@myskolae.fr::d6b7eca2-3c1f-490c-8b84-05767183c497" providerId="AD" clId="Web-{EC835E7B-EFB4-DAD8-42AD-68894EEE7253}" dt="2026-07-29T16:23:30.977" v="0" actId="20577"/>
        <pc:sldMkLst>
          <pc:docMk/>
          <pc:sldMk cId="0" sldId="256"/>
        </pc:sldMkLst>
        <pc:spChg chg="mod">
          <ac:chgData name="Zakaria BARKA" userId="S::z.barka@myskolae.fr::d6b7eca2-3c1f-490c-8b84-05767183c497" providerId="AD" clId="Web-{EC835E7B-EFB4-DAD8-42AD-68894EEE7253}" dt="2026-07-29T16:23:30.977" v="0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">
        <pc:chgData name="Zakaria BARKA" userId="S::z.barka@myskolae.fr::d6b7eca2-3c1f-490c-8b84-05767183c497" providerId="AD" clId="Web-{EC835E7B-EFB4-DAD8-42AD-68894EEE7253}" dt="2026-07-29T16:24:18.166" v="8" actId="20577"/>
        <pc:sldMkLst>
          <pc:docMk/>
          <pc:sldMk cId="0" sldId="257"/>
        </pc:sldMkLst>
        <pc:spChg chg="mod">
          <ac:chgData name="Zakaria BARKA" userId="S::z.barka@myskolae.fr::d6b7eca2-3c1f-490c-8b84-05767183c497" providerId="AD" clId="Web-{EC835E7B-EFB4-DAD8-42AD-68894EEE7253}" dt="2026-07-29T16:23:54.556" v="2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Zakaria BARKA" userId="S::z.barka@myskolae.fr::d6b7eca2-3c1f-490c-8b84-05767183c497" providerId="AD" clId="Web-{EC835E7B-EFB4-DAD8-42AD-68894EEE7253}" dt="2026-07-29T16:24:05.212" v="4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Zakaria BARKA" userId="S::z.barka@myskolae.fr::d6b7eca2-3c1f-490c-8b84-05767183c497" providerId="AD" clId="Web-{EC835E7B-EFB4-DAD8-42AD-68894EEE7253}" dt="2026-07-29T16:24:12.838" v="6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Zakaria BARKA" userId="S::z.barka@myskolae.fr::d6b7eca2-3c1f-490c-8b84-05767183c497" providerId="AD" clId="Web-{EC835E7B-EFB4-DAD8-42AD-68894EEE7253}" dt="2026-07-29T16:24:18.166" v="8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Sp">
        <pc:chgData name="Zakaria BARKA" userId="S::z.barka@myskolae.fr::d6b7eca2-3c1f-490c-8b84-05767183c497" providerId="AD" clId="Web-{EC835E7B-EFB4-DAD8-42AD-68894EEE7253}" dt="2026-07-29T16:25:22.731" v="16" actId="14100"/>
        <pc:sldMkLst>
          <pc:docMk/>
          <pc:sldMk cId="0" sldId="259"/>
        </pc:sldMkLst>
        <pc:spChg chg="mod">
          <ac:chgData name="Zakaria BARKA" userId="S::z.barka@myskolae.fr::d6b7eca2-3c1f-490c-8b84-05767183c497" providerId="AD" clId="Web-{EC835E7B-EFB4-DAD8-42AD-68894EEE7253}" dt="2026-07-29T16:25:22.731" v="16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Zakaria BARKA" userId="S::z.barka@myskolae.fr::d6b7eca2-3c1f-490c-8b84-05767183c497" providerId="AD" clId="Web-{EC835E7B-EFB4-DAD8-42AD-68894EEE7253}" dt="2026-07-29T16:24:42.870" v="9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Zakaria BARKA" userId="S::z.barka@myskolae.fr::d6b7eca2-3c1f-490c-8b84-05767183c497" providerId="AD" clId="Web-{EC835E7B-EFB4-DAD8-42AD-68894EEE7253}" dt="2026-07-29T16:24:49.620" v="10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Zakaria BARKA" userId="S::z.barka@myskolae.fr::d6b7eca2-3c1f-490c-8b84-05767183c497" providerId="AD" clId="Web-{EC835E7B-EFB4-DAD8-42AD-68894EEE7253}" dt="2026-07-29T16:25:03.918" v="13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Zakaria BARKA" userId="S::z.barka@myskolae.fr::d6b7eca2-3c1f-490c-8b84-05767183c497" providerId="AD" clId="Web-{EC835E7B-EFB4-DAD8-42AD-68894EEE7253}" dt="2026-07-29T16:25:08.902" v="15" actId="20577"/>
          <ac:spMkLst>
            <pc:docMk/>
            <pc:sldMk cId="0" sldId="259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732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78657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Reconnaissance </a:t>
            </a:r>
            <a:r>
              <a:rPr lang="en-US" sz="27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d'Objets</a:t>
            </a: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du Quotidien </a:t>
            </a:r>
            <a:r>
              <a:rPr lang="en-US" sz="27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</a:t>
            </a: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Temps </a:t>
            </a:r>
            <a:r>
              <a:rPr lang="en-US" sz="27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Réel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26320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Du CNN </a:t>
            </a:r>
            <a:r>
              <a:rPr lang="en-US" sz="1200" i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From Scratch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au Transfer Learning avec MobileNetV2</a:t>
            </a:r>
            <a:endParaRPr lang="en-US" sz="1200">
              <a:latin typeface="Open Sans"/>
              <a:ea typeface="Open Sans"/>
              <a:cs typeface="Open San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925119" y="3649489"/>
            <a:ext cx="712738" cy="215354"/>
          </a:xfrm>
          <a:prstGeom prst="roundRect">
            <a:avLst>
              <a:gd name="adj" fmla="val 22119"/>
            </a:avLst>
          </a:prstGeom>
          <a:solidFill>
            <a:srgbClr val="D6F5E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174" y="3700463"/>
            <a:ext cx="113407" cy="1134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80284" y="3691979"/>
            <a:ext cx="82971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BADGE</a:t>
            </a:r>
            <a:endParaRPr lang="en-US" sz="850"/>
          </a:p>
        </p:txBody>
      </p:sp>
      <p:sp>
        <p:nvSpPr>
          <p:cNvPr id="8" name="Shape 4"/>
          <p:cNvSpPr/>
          <p:nvPr/>
        </p:nvSpPr>
        <p:spPr>
          <a:xfrm>
            <a:off x="4708699" y="3649489"/>
            <a:ext cx="811262" cy="215354"/>
          </a:xfrm>
          <a:prstGeom prst="roundRect">
            <a:avLst>
              <a:gd name="adj" fmla="val 22119"/>
            </a:avLst>
          </a:prstGeom>
          <a:solidFill>
            <a:srgbClr val="D6F5E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754" y="3700463"/>
            <a:ext cx="113407" cy="11340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3864" y="3691979"/>
            <a:ext cx="92824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BRIQUET</a:t>
            </a:r>
            <a:endParaRPr lang="en-US" sz="850"/>
          </a:p>
        </p:txBody>
      </p:sp>
      <p:sp>
        <p:nvSpPr>
          <p:cNvPr id="11" name="Shape 6"/>
          <p:cNvSpPr/>
          <p:nvPr/>
        </p:nvSpPr>
        <p:spPr>
          <a:xfrm>
            <a:off x="5590803" y="3649489"/>
            <a:ext cx="976015" cy="215354"/>
          </a:xfrm>
          <a:prstGeom prst="roundRect">
            <a:avLst>
              <a:gd name="adj" fmla="val 22119"/>
            </a:avLst>
          </a:prstGeom>
          <a:solidFill>
            <a:srgbClr val="D6F5E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5858" y="3700463"/>
            <a:ext cx="113407" cy="11340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45969" y="3691979"/>
            <a:ext cx="109299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TÉLÉPHONE</a:t>
            </a:r>
            <a:endParaRPr lang="en-US" sz="850"/>
          </a:p>
        </p:txBody>
      </p:sp>
      <p:sp>
        <p:nvSpPr>
          <p:cNvPr id="14" name="Shape 8"/>
          <p:cNvSpPr/>
          <p:nvPr/>
        </p:nvSpPr>
        <p:spPr>
          <a:xfrm>
            <a:off x="6637660" y="3649489"/>
            <a:ext cx="110013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26A6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715" y="3700463"/>
            <a:ext cx="113407" cy="11340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92826" y="3691979"/>
            <a:ext cx="121711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ARRIÈRE-PLAN</a:t>
            </a:r>
            <a:endParaRPr lang="en-US" sz="8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09403D-6012-C500-43BE-45C17246B4DF}"/>
              </a:ext>
            </a:extLst>
          </p:cNvPr>
          <p:cNvSpPr/>
          <p:nvPr/>
        </p:nvSpPr>
        <p:spPr>
          <a:xfrm>
            <a:off x="8001000" y="4833257"/>
            <a:ext cx="1104082" cy="310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3593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Contexte et Sélection des Objets</a:t>
            </a:r>
            <a:endParaRPr lang="en-US" sz="2700"/>
          </a:p>
        </p:txBody>
      </p:sp>
      <p:sp>
        <p:nvSpPr>
          <p:cNvPr id="4" name="Text 1"/>
          <p:cNvSpPr/>
          <p:nvPr/>
        </p:nvSpPr>
        <p:spPr>
          <a:xfrm>
            <a:off x="496119" y="1491779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Classifier </a:t>
            </a:r>
            <a:r>
              <a:rPr lang="en-US" sz="1200" b="1">
                <a:solidFill>
                  <a:srgbClr val="333F70"/>
                </a:solidFill>
                <a:latin typeface="Open Sans Bold"/>
                <a:ea typeface="Open Sans Bold"/>
                <a:cs typeface="Open Sans Bold"/>
              </a:rPr>
              <a:t>3 objets du quotidien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+ une classe de rejet (</a:t>
            </a:r>
            <a:r>
              <a:rPr lang="en-US" sz="1200" i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Background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) en flux vidéo temps réel.</a:t>
            </a:r>
            <a:endParaRPr lang="en-US" sz="1200">
              <a:latin typeface="Open Sans"/>
              <a:ea typeface="Open Sans"/>
              <a:cs typeface="Open San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96119" y="2089175"/>
            <a:ext cx="2292697" cy="1471389"/>
          </a:xfrm>
          <a:prstGeom prst="roundRect">
            <a:avLst>
              <a:gd name="adj" fmla="val 3983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40407" y="2233464"/>
            <a:ext cx="2004120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Formes Comparables</a:t>
            </a:r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640407" y="2751906"/>
            <a:ext cx="200412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Trois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objets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— un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défi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pour les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extracteurs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de contours.</a:t>
            </a:r>
            <a:endParaRPr lang="en-US" sz="1200">
              <a:latin typeface="Open Sans"/>
              <a:ea typeface="Open Sans"/>
              <a:cs typeface="Open San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926184" y="2089175"/>
            <a:ext cx="2292697" cy="1471389"/>
          </a:xfrm>
          <a:prstGeom prst="roundRect">
            <a:avLst>
              <a:gd name="adj" fmla="val 3983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070473" y="2233464"/>
            <a:ext cx="2004120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Matériaux Très Différents</a:t>
            </a:r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3070473" y="2751906"/>
            <a:ext cx="200412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Plastique </a:t>
            </a:r>
            <a:r>
              <a:rPr lang="en-US" sz="1200" dirty="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/ </a:t>
            </a:r>
            <a:r>
              <a:rPr lang="en-US" sz="1200" dirty="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métal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(badge),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écran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vitré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(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téléphone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),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métal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/plastique (briquet).</a:t>
            </a:r>
            <a:endParaRPr lang="en-US" sz="120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96119" y="3697932"/>
            <a:ext cx="4722763" cy="1031900"/>
          </a:xfrm>
          <a:prstGeom prst="roundRect">
            <a:avLst>
              <a:gd name="adj" fmla="val 568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40407" y="3842221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Le Défi Technique</a:t>
            </a:r>
            <a:endParaRPr lang="en-US" sz="1350"/>
          </a:p>
        </p:txBody>
      </p:sp>
      <p:sp>
        <p:nvSpPr>
          <p:cNvPr id="13" name="Text 10"/>
          <p:cNvSpPr/>
          <p:nvPr/>
        </p:nvSpPr>
        <p:spPr>
          <a:xfrm>
            <a:off x="640407" y="4142631"/>
            <a:ext cx="443418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Différencier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ces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objets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malgré les changements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d'orientation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et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d'éclairage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.</a:t>
            </a:r>
            <a:endParaRPr lang="en-US" sz="1200"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3576"/>
            <a:ext cx="729704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26A6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70533" y="430783"/>
            <a:ext cx="103807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TENTATIVE 1</a:t>
            </a:r>
            <a:endParaRPr lang="en-US" sz="750"/>
          </a:p>
        </p:txBody>
      </p:sp>
      <p:sp>
        <p:nvSpPr>
          <p:cNvPr id="4" name="Text 2"/>
          <p:cNvSpPr/>
          <p:nvPr/>
        </p:nvSpPr>
        <p:spPr>
          <a:xfrm>
            <a:off x="496119" y="625525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CNN "From Scratch" : L'Écueil de l'Overfitting</a:t>
            </a:r>
            <a:endParaRPr lang="en-US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85404"/>
            <a:ext cx="5192688" cy="29424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96136" y="1673498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Le Symptôme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5996136" y="1975842"/>
            <a:ext cx="2656433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 d'entraînement : </a:t>
            </a:r>
            <a:r>
              <a:rPr lang="en-US" sz="1200" b="1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95 %</a:t>
            </a: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Validation bloquée à </a:t>
            </a:r>
            <a:r>
              <a:rPr lang="en-US" sz="1200" b="1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70–80 %</a:t>
            </a: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un écart classique de forte variance.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5991448" y="2732320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La Cause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5996136" y="2944788"/>
            <a:ext cx="2656433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jeu de données était trop restreint pour qu'un CNN apprenne des filtres visuels génériques sans mémoriser les images.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6089418" y="3911500"/>
            <a:ext cx="2982736" cy="1161241"/>
          </a:xfrm>
          <a:prstGeom prst="roundRect">
            <a:avLst>
              <a:gd name="adj" fmla="val 5203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421" y="4134148"/>
            <a:ext cx="155004" cy="1239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94399" y="4078189"/>
            <a:ext cx="212950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CNN profond nécessite des dizaines de milliers d'exemples pour généraliser correctement depuis zéro.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890" y="291884"/>
            <a:ext cx="1069787" cy="216459"/>
          </a:xfrm>
          <a:prstGeom prst="roundRect">
            <a:avLst>
              <a:gd name="adj" fmla="val 22134"/>
            </a:avLst>
          </a:prstGeom>
          <a:noFill/>
          <a:ln w="4763">
            <a:solidFill>
              <a:srgbClr val="26A6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38610" y="291321"/>
            <a:ext cx="1425676" cy="81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>
                <a:solidFill>
                  <a:srgbClr val="26A688"/>
                </a:solidFill>
                <a:latin typeface="Open Sans"/>
                <a:ea typeface="Open Sans"/>
                <a:cs typeface="Open Sans"/>
              </a:rPr>
              <a:t>TENTATIVE 2</a:t>
            </a:r>
            <a:r>
              <a:rPr lang="en-US" sz="400">
                <a:solidFill>
                  <a:srgbClr val="26A688"/>
                </a:solidFill>
                <a:latin typeface="Open Sans"/>
                <a:ea typeface="Open Sans"/>
                <a:cs typeface="Open Sans"/>
              </a:rPr>
              <a:t>2</a:t>
            </a:r>
            <a:endParaRPr lang="en-US" sz="400">
              <a:latin typeface="Open Sans"/>
              <a:ea typeface="Open Sans"/>
              <a:cs typeface="Open Sa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Ambiguïtés Visuelles : Badge vs Téléphone</a:t>
            </a:r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496118" y="2101060"/>
            <a:ext cx="4000298" cy="21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>
                <a:solidFill>
                  <a:srgbClr val="333F70"/>
                </a:solidFill>
                <a:latin typeface="Unbounded Bold"/>
                <a:ea typeface="Unbounded Bold" pitchFamily="34" charset="-122"/>
                <a:cs typeface="Unbounded Bold" pitchFamily="34" charset="-120"/>
              </a:rPr>
              <a:t>Le </a:t>
            </a:r>
            <a:r>
              <a:rPr lang="en-US" sz="1400" b="1" err="1">
                <a:solidFill>
                  <a:srgbClr val="333F70"/>
                </a:solidFill>
                <a:latin typeface="Unbounded Bold"/>
                <a:ea typeface="Unbounded Bold" pitchFamily="34" charset="-122"/>
                <a:cs typeface="Unbounded Bold" pitchFamily="34" charset="-120"/>
              </a:rPr>
              <a:t>Problème</a:t>
            </a:r>
            <a:r>
              <a:rPr lang="en-US" sz="1400" b="1">
                <a:solidFill>
                  <a:srgbClr val="333F70"/>
                </a:solidFill>
                <a:latin typeface="Unbounded Bold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sz="1400" b="1" err="1">
                <a:solidFill>
                  <a:srgbClr val="333F70"/>
                </a:solidFill>
                <a:latin typeface="Unbounded Bold"/>
                <a:ea typeface="Unbounded Bold" pitchFamily="34" charset="-122"/>
                <a:cs typeface="Unbounded Bold" pitchFamily="34" charset="-120"/>
              </a:rPr>
              <a:t>Observé</a:t>
            </a:r>
            <a:endParaRPr lang="en-US" sz="1400" err="1">
              <a:latin typeface="Unbounded Bold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1560" y="2312523"/>
            <a:ext cx="4495598" cy="406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Confusions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fréquentes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entre le </a:t>
            </a:r>
            <a:r>
              <a:rPr lang="en-US" sz="1200" b="1">
                <a:solidFill>
                  <a:srgbClr val="333F70"/>
                </a:solidFill>
                <a:latin typeface="Open Sans Bold"/>
                <a:ea typeface="Open Sans Bold"/>
                <a:cs typeface="Open Sans Bold"/>
              </a:rPr>
              <a:t>badge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et le </a:t>
            </a:r>
            <a:r>
              <a:rPr lang="en-US" sz="1200" b="1" err="1">
                <a:solidFill>
                  <a:srgbClr val="333F70"/>
                </a:solidFill>
                <a:latin typeface="Open Sans Bold"/>
                <a:ea typeface="Open Sans Bold"/>
                <a:cs typeface="Open Sans Bold"/>
              </a:rPr>
              <a:t>téléphone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</a:t>
            </a:r>
            <a:endParaRPr lang="en-US" sz="12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lors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des premières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expérimentations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sur le jeu de test.</a:t>
            </a:r>
            <a:endParaRPr lang="en-US" sz="1200">
              <a:latin typeface="Open Sans"/>
              <a:ea typeface="Open Sans"/>
              <a:cs typeface="Open San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4219" y="2890200"/>
            <a:ext cx="3978528" cy="26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err="1">
                <a:solidFill>
                  <a:srgbClr val="333F70"/>
                </a:solidFill>
                <a:latin typeface="Unbounded Bold"/>
                <a:ea typeface="Unbounded Bold" pitchFamily="34" charset="-122"/>
                <a:cs typeface="Unbounded Bold" pitchFamily="34" charset="-120"/>
              </a:rPr>
              <a:t>L'Explication</a:t>
            </a:r>
            <a:r>
              <a:rPr lang="en-US" sz="1400" b="1">
                <a:solidFill>
                  <a:srgbClr val="333F70"/>
                </a:solidFill>
                <a:latin typeface="Unbounded Bold"/>
                <a:ea typeface="Unbounded Bold" pitchFamily="34" charset="-122"/>
                <a:cs typeface="Unbounded Bold" pitchFamily="34" charset="-120"/>
              </a:rPr>
              <a:t> Physique</a:t>
            </a:r>
            <a:endParaRPr lang="en-US" sz="1400">
              <a:latin typeface="Unbounded Bold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1561" y="3161534"/>
            <a:ext cx="3994855" cy="627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Les surfaces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lisses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et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brillantes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200" dirty="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et couleurs noirs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génèrent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des </a:t>
            </a:r>
            <a:r>
              <a:rPr lang="en-US" sz="1200" b="1">
                <a:solidFill>
                  <a:srgbClr val="333F70"/>
                </a:solidFill>
                <a:latin typeface="Open Sans Bold"/>
                <a:ea typeface="Open Sans Bold"/>
                <a:cs typeface="Open Sans Bold"/>
              </a:rPr>
              <a:t>reflets </a:t>
            </a:r>
            <a:r>
              <a:rPr lang="en-US" sz="1200" b="1" err="1">
                <a:solidFill>
                  <a:srgbClr val="333F70"/>
                </a:solidFill>
                <a:latin typeface="Open Sans Bold"/>
                <a:ea typeface="Open Sans Bold"/>
                <a:cs typeface="Open Sans Bold"/>
              </a:rPr>
              <a:t>blancs</a:t>
            </a:r>
            <a:r>
              <a:rPr lang="en-US" sz="1200" b="1">
                <a:solidFill>
                  <a:srgbClr val="333F70"/>
                </a:solidFill>
                <a:latin typeface="Open Sans Bold"/>
                <a:ea typeface="Open Sans Bold"/>
                <a:cs typeface="Open Sans Bold"/>
              </a:rPr>
              <a:t> quasi </a:t>
            </a:r>
            <a:r>
              <a:rPr lang="en-US" sz="1200" b="1" err="1">
                <a:solidFill>
                  <a:srgbClr val="333F70"/>
                </a:solidFill>
                <a:latin typeface="Open Sans Bold"/>
                <a:ea typeface="Open Sans Bold"/>
                <a:cs typeface="Open Sans Bold"/>
              </a:rPr>
              <a:t>identiques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rendant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les textures locales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indiscernables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pour le </a:t>
            </a:r>
            <a:r>
              <a:rPr lang="en-US" sz="1200" err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modèle</a:t>
            </a:r>
            <a:r>
              <a:rPr lang="en-US" sz="12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.</a:t>
            </a:r>
            <a:endParaRPr lang="en-US" sz="1200" dirty="0">
              <a:latin typeface="Open Sans"/>
              <a:ea typeface="Open Sans"/>
              <a:cs typeface="Open Sans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732" y="1152567"/>
            <a:ext cx="38370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5082"/>
            <a:ext cx="4722763" cy="1245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La Solution : Transfer Learning avec MobileNetV2</a:t>
            </a:r>
            <a:endParaRPr lang="en-US" sz="260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847850"/>
            <a:ext cx="664518" cy="9601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5205" y="1980754"/>
            <a:ext cx="393367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Base Pré-Entraînée</a:t>
            </a:r>
            <a:endParaRPr lang="en-US" sz="1300"/>
          </a:p>
        </p:txBody>
      </p:sp>
      <p:sp>
        <p:nvSpPr>
          <p:cNvPr id="6" name="Text 2"/>
          <p:cNvSpPr/>
          <p:nvPr/>
        </p:nvSpPr>
        <p:spPr>
          <a:xfrm>
            <a:off x="1285205" y="2263155"/>
            <a:ext cx="393367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MobileNetV2 (ImageNet), couches gelées — features visuels riches sans réapprentissage.</a:t>
            </a:r>
            <a:endParaRPr lang="en-US" sz="100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808015"/>
            <a:ext cx="664518" cy="96016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85205" y="2940918"/>
            <a:ext cx="393367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Couche Dense</a:t>
            </a:r>
            <a:endParaRPr lang="en-US" sz="1300"/>
          </a:p>
        </p:txBody>
      </p:sp>
      <p:sp>
        <p:nvSpPr>
          <p:cNvPr id="9" name="Text 4"/>
          <p:cNvSpPr/>
          <p:nvPr/>
        </p:nvSpPr>
        <p:spPr>
          <a:xfrm>
            <a:off x="1285205" y="3223320"/>
            <a:ext cx="393367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256 neurones + Dropout (0.3) pour la régularisation et la prévention de l'overfitting.</a:t>
            </a:r>
            <a:endParaRPr lang="en-US" sz="10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768179"/>
            <a:ext cx="664518" cy="9601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85205" y="3901083"/>
            <a:ext cx="393367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Augmentation</a:t>
            </a:r>
            <a:endParaRPr lang="en-US" sz="1300"/>
          </a:p>
        </p:txBody>
      </p:sp>
      <p:sp>
        <p:nvSpPr>
          <p:cNvPr id="12" name="Text 6"/>
          <p:cNvSpPr/>
          <p:nvPr/>
        </p:nvSpPr>
        <p:spPr>
          <a:xfrm>
            <a:off x="1285205" y="4183484"/>
            <a:ext cx="393367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Rotations légères et zooms aléatoires pour enrichir artificiellement le jeu d'entraînement.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5825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Résultats Optimaux sur le Jeu de Test</a:t>
            </a:r>
            <a:endParaRPr lang="en-US" sz="2750"/>
          </a:p>
        </p:txBody>
      </p:sp>
      <p:sp>
        <p:nvSpPr>
          <p:cNvPr id="3" name="Text 1"/>
          <p:cNvSpPr/>
          <p:nvPr/>
        </p:nvSpPr>
        <p:spPr>
          <a:xfrm>
            <a:off x="496119" y="212615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100%</a:t>
            </a:r>
            <a:endParaRPr lang="en-US" sz="3650"/>
          </a:p>
        </p:txBody>
      </p:sp>
      <p:sp>
        <p:nvSpPr>
          <p:cNvPr id="4" name="Text 2"/>
          <p:cNvSpPr/>
          <p:nvPr/>
        </p:nvSpPr>
        <p:spPr>
          <a:xfrm>
            <a:off x="496119" y="277110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Accuracy</a:t>
            </a:r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496119" y="307761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Classification parfaite sur toutes les classes du jeu de test.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3272433" y="212615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100%</a:t>
            </a:r>
            <a:endParaRPr lang="en-US" sz="3650"/>
          </a:p>
        </p:txBody>
      </p:sp>
      <p:sp>
        <p:nvSpPr>
          <p:cNvPr id="7" name="Text 5"/>
          <p:cNvSpPr/>
          <p:nvPr/>
        </p:nvSpPr>
        <p:spPr>
          <a:xfrm>
            <a:off x="3272433" y="277110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Rappel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3272433" y="307761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Aucun objet positif manqué — détection exhaustive.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048747" y="212615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1.00</a:t>
            </a:r>
            <a:endParaRPr lang="en-US" sz="3650"/>
          </a:p>
        </p:txBody>
      </p:sp>
      <p:sp>
        <p:nvSpPr>
          <p:cNvPr id="10" name="Text 8"/>
          <p:cNvSpPr/>
          <p:nvPr/>
        </p:nvSpPr>
        <p:spPr>
          <a:xfrm>
            <a:off x="6048747" y="277110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F1-Score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6048747" y="307761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Équilibre parfait entre précision et rappel sur l'ensemble des classes.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96119" y="3690714"/>
            <a:ext cx="8321310" cy="566961"/>
          </a:xfrm>
          <a:prstGeom prst="roundRect">
            <a:avLst>
              <a:gd name="adj" fmla="val 10502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891483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56816" y="3867894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confusion historique entre </a:t>
            </a:r>
            <a:r>
              <a:rPr lang="en-US" sz="1200" b="1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téléphone</a:t>
            </a:r>
            <a:r>
              <a:rPr lang="en-US" sz="120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et </a:t>
            </a:r>
            <a:r>
              <a:rPr lang="en-US" sz="1200" b="1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background</a:t>
            </a:r>
            <a:r>
              <a:rPr lang="en-US" sz="120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été totalement résolue grâce au Transfer Learning.</a:t>
            </a:r>
            <a:endParaRPr lang="en-US" sz="1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DBD6C9-85D7-86B2-1053-04D0D388F427}"/>
              </a:ext>
            </a:extLst>
          </p:cNvPr>
          <p:cNvSpPr/>
          <p:nvPr/>
        </p:nvSpPr>
        <p:spPr>
          <a:xfrm>
            <a:off x="8001000" y="4833257"/>
            <a:ext cx="1104082" cy="310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8316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Tests de Robustesse : Conditions Dégradées</a:t>
            </a:r>
            <a:endParaRPr lang="en-US" sz="27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1636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69865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Lumière Intense — 65 %</a:t>
            </a:r>
            <a:endParaRPr lang="en-US" sz="1350"/>
          </a:p>
        </p:txBody>
      </p:sp>
      <p:sp>
        <p:nvSpPr>
          <p:cNvPr id="5" name="Text 2"/>
          <p:cNvSpPr/>
          <p:nvPr/>
        </p:nvSpPr>
        <p:spPr>
          <a:xfrm>
            <a:off x="4749701" y="2061865"/>
            <a:ext cx="390294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reflets éblouissants réactivent la confusion </a:t>
            </a:r>
            <a:r>
              <a:rPr lang="en-US" sz="1200" b="1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badge </a:t>
            </a:r>
            <a:r>
              <a:rPr lang="en-US" sz="120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↔</a:t>
            </a:r>
            <a:r>
              <a:rPr lang="en-US" sz="1200" b="1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téléphone</a:t>
            </a: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: les textures saturées deviennent indiscernables.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>
          <a:xfrm>
            <a:off x="4744938" y="322904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Flou Gaussien — 27,5 %</a:t>
            </a:r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4744938" y="359226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Sans arêtes nettes, le modèle classe la majorité des objets en </a:t>
            </a:r>
            <a:r>
              <a:rPr lang="en-US" sz="1200" b="1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Background</a:t>
            </a: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les contours sont essentiels à la décision.</a:t>
            </a:r>
            <a:endParaRPr lang="en-US" sz="12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86021F-4E68-EF7B-8C5D-D2E677D593C2}"/>
              </a:ext>
            </a:extLst>
          </p:cNvPr>
          <p:cNvSpPr/>
          <p:nvPr/>
        </p:nvSpPr>
        <p:spPr>
          <a:xfrm>
            <a:off x="8001000" y="4833257"/>
            <a:ext cx="1104082" cy="310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23652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Performance en Production : Détection sur CPU</a:t>
            </a:r>
            <a:endParaRPr lang="en-US" sz="2750"/>
          </a:p>
        </p:txBody>
      </p:sp>
      <p:sp>
        <p:nvSpPr>
          <p:cNvPr id="4" name="Shape 1"/>
          <p:cNvSpPr/>
          <p:nvPr/>
        </p:nvSpPr>
        <p:spPr>
          <a:xfrm>
            <a:off x="3925119" y="2065213"/>
            <a:ext cx="4722763" cy="2554635"/>
          </a:xfrm>
          <a:prstGeom prst="roundRect">
            <a:avLst>
              <a:gd name="adj" fmla="val 2331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3929881" y="2069976"/>
            <a:ext cx="2356619" cy="1496690"/>
          </a:xfrm>
          <a:custGeom>
            <a:avLst/>
            <a:gdLst/>
            <a:ahLst/>
            <a:cxnLst/>
            <a:rect l="l" t="t" r="r" b="b"/>
            <a:pathLst>
              <a:path w="2356619" h="1496690">
                <a:moveTo>
                  <a:pt x="49619" y="0"/>
                </a:moveTo>
                <a:lnTo>
                  <a:pt x="2356619" y="0"/>
                </a:lnTo>
                <a:lnTo>
                  <a:pt x="2356619" y="1496690"/>
                </a:lnTo>
                <a:lnTo>
                  <a:pt x="0" y="1496690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D6F5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4071640" y="2211735"/>
            <a:ext cx="207310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10.6 FPS</a:t>
            </a:r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4071640" y="2523009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~94 ms par image en inférence temps réel.</a:t>
            </a:r>
            <a:endParaRPr lang="en-US" sz="1200"/>
          </a:p>
        </p:txBody>
      </p:sp>
      <p:sp>
        <p:nvSpPr>
          <p:cNvPr id="8" name="Shape 5"/>
          <p:cNvSpPr/>
          <p:nvPr/>
        </p:nvSpPr>
        <p:spPr>
          <a:xfrm>
            <a:off x="6286500" y="2069976"/>
            <a:ext cx="2356619" cy="1496690"/>
          </a:xfrm>
          <a:custGeom>
            <a:avLst/>
            <a:gdLst/>
            <a:ahLst/>
            <a:cxnLst/>
            <a:rect l="l" t="t" r="r" b="b"/>
            <a:pathLst>
              <a:path w="2356619" h="1496690">
                <a:moveTo>
                  <a:pt x="0" y="0"/>
                </a:moveTo>
                <a:lnTo>
                  <a:pt x="2307000" y="0"/>
                </a:lnTo>
                <a:arcTo wR="49619" hR="49619" stAng="16200000" swAng="5400000"/>
                <a:lnTo>
                  <a:pt x="2356619" y="1496690"/>
                </a:lnTo>
                <a:lnTo>
                  <a:pt x="0" y="1496690"/>
                </a:lnTo>
                <a:lnTo>
                  <a:pt x="0" y="0"/>
                </a:lnTo>
                <a:close/>
              </a:path>
            </a:pathLst>
          </a:custGeom>
          <a:solidFill>
            <a:srgbClr val="D6F5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6286500" y="2069976"/>
            <a:ext cx="19050" cy="1496690"/>
          </a:xfrm>
          <a:prstGeom prst="roundRect">
            <a:avLst>
              <a:gd name="adj" fmla="val 50000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6428259" y="2211735"/>
            <a:ext cx="207310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🖥️</a:t>
            </a: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CPU Uniquement</a:t>
            </a:r>
            <a:endParaRPr lang="en-US" sz="1350"/>
          </a:p>
        </p:txBody>
      </p:sp>
      <p:sp>
        <p:nvSpPr>
          <p:cNvPr id="11" name="Text 8"/>
          <p:cNvSpPr/>
          <p:nvPr/>
        </p:nvSpPr>
        <p:spPr>
          <a:xfrm>
            <a:off x="6428259" y="2744465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Aucune carte graphique requise — déploiement léger sur matériel standard.</a:t>
            </a:r>
            <a:endParaRPr lang="en-US" sz="1200"/>
          </a:p>
        </p:txBody>
      </p:sp>
      <p:sp>
        <p:nvSpPr>
          <p:cNvPr id="12" name="Shape 9"/>
          <p:cNvSpPr/>
          <p:nvPr/>
        </p:nvSpPr>
        <p:spPr>
          <a:xfrm>
            <a:off x="3929881" y="3566666"/>
            <a:ext cx="4713238" cy="1048420"/>
          </a:xfrm>
          <a:custGeom>
            <a:avLst/>
            <a:gdLst/>
            <a:ahLst/>
            <a:cxnLst/>
            <a:rect l="l" t="t" r="r" b="b"/>
            <a:pathLst>
              <a:path w="4713238" h="1048420">
                <a:moveTo>
                  <a:pt x="0" y="0"/>
                </a:moveTo>
                <a:lnTo>
                  <a:pt x="4713238" y="0"/>
                </a:lnTo>
                <a:lnTo>
                  <a:pt x="4713238" y="998801"/>
                </a:lnTo>
                <a:arcTo wR="49619" hR="49619" stAng="0" swAng="5400000"/>
                <a:lnTo>
                  <a:pt x="49619" y="1048420"/>
                </a:lnTo>
                <a:arcTo wR="49619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D6F5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3929881" y="3566666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071640" y="3708425"/>
            <a:ext cx="442972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Flux Fluide</a:t>
            </a:r>
            <a:endParaRPr lang="en-US" sz="1350"/>
          </a:p>
        </p:txBody>
      </p:sp>
      <p:sp>
        <p:nvSpPr>
          <p:cNvPr id="15" name="Text 12"/>
          <p:cNvSpPr/>
          <p:nvPr/>
        </p:nvSpPr>
        <p:spPr>
          <a:xfrm>
            <a:off x="4071640" y="4019699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Détection continue et réactive, adaptée à une utilisation interactive en direct.</a:t>
            </a:r>
            <a:endParaRPr lang="en-US" sz="1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5D9B1F-0692-7804-8AFC-303C342B2073}"/>
              </a:ext>
            </a:extLst>
          </p:cNvPr>
          <p:cNvSpPr/>
          <p:nvPr/>
        </p:nvSpPr>
        <p:spPr>
          <a:xfrm>
            <a:off x="8001000" y="4833257"/>
            <a:ext cx="1104082" cy="310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515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Synthèse : Parcours et Leçons Clés</a:t>
            </a:r>
            <a:endParaRPr lang="en-US" sz="19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56134"/>
            <a:ext cx="8151763" cy="36682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3268" y="959622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1</a:t>
            </a:r>
            <a:endParaRPr lang="en-US" sz="1350"/>
          </a:p>
        </p:txBody>
      </p:sp>
      <p:sp>
        <p:nvSpPr>
          <p:cNvPr id="5" name="Text 2"/>
          <p:cNvSpPr/>
          <p:nvPr/>
        </p:nvSpPr>
        <p:spPr>
          <a:xfrm>
            <a:off x="1865153" y="1242774"/>
            <a:ext cx="1802768" cy="45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 from scratch, surapprentissage, 70–80% val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>
          <a:xfrm>
            <a:off x="3856036" y="3710802"/>
            <a:ext cx="1434377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2</a:t>
            </a:r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3856036" y="3993954"/>
            <a:ext cx="1434377" cy="45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Transfer Learning MobileNetV2, F1=1.00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5603938" y="1007263"/>
            <a:ext cx="1426539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3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5603938" y="1290415"/>
            <a:ext cx="1771420" cy="22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Tests de robustesse: éblouissement et flou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496120" y="4562115"/>
            <a:ext cx="7360502" cy="59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 projet illustre l'importance du </a:t>
            </a:r>
            <a:r>
              <a:rPr lang="en-US" sz="1200" b="1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Transfer Learning</a:t>
            </a: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face aux données limitées, et la nécessité de tester</a:t>
            </a:r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 </a:t>
            </a:r>
            <a:r>
              <a:rPr lang="en-US" sz="1200" b="1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conditions dégradées</a:t>
            </a: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pour identifier les vraies limites du modèle.</a:t>
            </a:r>
            <a:endParaRPr lang="en-US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8A896F-1FF0-942A-3C12-9522FB9C577A}"/>
              </a:ext>
            </a:extLst>
          </p:cNvPr>
          <p:cNvSpPr/>
          <p:nvPr/>
        </p:nvSpPr>
        <p:spPr>
          <a:xfrm>
            <a:off x="8001000" y="4833257"/>
            <a:ext cx="1104082" cy="310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0428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Place à la Démonstration en Direct !</a:t>
            </a:r>
            <a:endParaRPr lang="en-US" sz="2750"/>
          </a:p>
        </p:txBody>
      </p:sp>
      <p:sp>
        <p:nvSpPr>
          <p:cNvPr id="4" name="Text 1"/>
          <p:cNvSpPr/>
          <p:nvPr/>
        </p:nvSpPr>
        <p:spPr>
          <a:xfrm>
            <a:off x="3925119" y="199199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 des objets, tolérance aux angles et observation des limites face à la lumière.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3925119" y="2605087"/>
            <a:ext cx="4722763" cy="859706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4085927" y="2765896"/>
            <a:ext cx="440114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Lancer le Flux Webcam</a:t>
            </a:r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4085927" y="3077170"/>
            <a:ext cx="44011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src/inference_realtime.py</a:t>
            </a:r>
            <a:endParaRPr lang="en-US" sz="1200"/>
          </a:p>
        </p:txBody>
      </p:sp>
      <p:sp>
        <p:nvSpPr>
          <p:cNvPr id="8" name="Shape 5"/>
          <p:cNvSpPr/>
          <p:nvPr/>
        </p:nvSpPr>
        <p:spPr>
          <a:xfrm>
            <a:off x="3925119" y="3606552"/>
            <a:ext cx="4722763" cy="1086520"/>
          </a:xfrm>
          <a:prstGeom prst="roundRect">
            <a:avLst>
              <a:gd name="adj" fmla="val 5480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085927" y="3767361"/>
            <a:ext cx="440114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35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Tests en Direct</a:t>
            </a:r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4085927" y="4078635"/>
            <a:ext cx="44011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Présenter chaque objet sous différents angles et éclairages pour observer la réactivité du modèle.</a:t>
            </a:r>
            <a:endParaRPr lang="en-US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52E1DF-B640-0E53-364A-7E1049467C30}"/>
              </a:ext>
            </a:extLst>
          </p:cNvPr>
          <p:cNvSpPr/>
          <p:nvPr/>
        </p:nvSpPr>
        <p:spPr>
          <a:xfrm>
            <a:off x="8001000" y="4833257"/>
            <a:ext cx="1104082" cy="310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53DF28C5C74645A87CB2C85FC3A66B" ma:contentTypeVersion="9" ma:contentTypeDescription="Crée un document." ma:contentTypeScope="" ma:versionID="b319c308c5693e5927f683fae7f57544">
  <xsd:schema xmlns:xsd="http://www.w3.org/2001/XMLSchema" xmlns:xs="http://www.w3.org/2001/XMLSchema" xmlns:p="http://schemas.microsoft.com/office/2006/metadata/properties" xmlns:ns3="8166f60a-11ce-4367-986a-3f08eb8d5c6d" targetNamespace="http://schemas.microsoft.com/office/2006/metadata/properties" ma:root="true" ma:fieldsID="222c3e26839f9f762f33792313c8148e" ns3:_="">
    <xsd:import namespace="8166f60a-11ce-4367-986a-3f08eb8d5c6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66f60a-11ce-4367-986a-3f08eb8d5c6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66f60a-11ce-4367-986a-3f08eb8d5c6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361251-E3EA-4A7A-849C-1EFFC85D47A5}">
  <ds:schemaRefs>
    <ds:schemaRef ds:uri="8166f60a-11ce-4367-986a-3f08eb8d5c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E401640-92A7-4647-86AD-A3225BC5612E}">
  <ds:schemaRefs>
    <ds:schemaRef ds:uri="8166f60a-11ce-4367-986a-3f08eb8d5c6d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81C1CC6-5C09-4E6A-813B-3D93B2A17B8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Microsoft Office PowerPoint</Application>
  <PresentationFormat>Affichage à l'écran (16:9)</PresentationFormat>
  <Paragraphs>83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Unbounded Bold</vt:lpstr>
      <vt:lpstr>Open Sans</vt:lpstr>
      <vt:lpstr>Twemoji Mozilla</vt:lpstr>
      <vt:lpstr>Consolas</vt:lpstr>
      <vt:lpstr>Open Sans Bold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Ibrahim addou</dc:creator>
  <cp:lastModifiedBy>Ibrahim ADDOU</cp:lastModifiedBy>
  <cp:revision>1</cp:revision>
  <dcterms:created xsi:type="dcterms:W3CDTF">2026-07-29T16:03:59Z</dcterms:created>
  <dcterms:modified xsi:type="dcterms:W3CDTF">2026-07-30T07:00:09Z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0x0101000453DF28C5C74645A87CB2C85FC3A66B</vt:lpwstr>
  </property>
</Properties>
</file>